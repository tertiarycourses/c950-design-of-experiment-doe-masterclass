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9" r:id="rId160"/>
    <p:sldId id="410" r:id="rId1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C950-Design-of-Experiment-DOE-Masterclas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e-engineering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08760"/>
            <a:ext cx="461772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NON-WSQ COURSE SLIDES · DESIGN OF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4709160" cy="1874519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Design of Experiment (DOE) Masterclass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13632"/>
            <a:ext cx="4617720" cy="12344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Code: C950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 days · 15 instructional hours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349240"/>
            <a:ext cx="461772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Version v1.0 · 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27648"/>
            <a:ext cx="461772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 ·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 must complete this profile before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Principal Trainer and Chief Instructional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Applied research, engineering analytics and experimental 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ACLP-certified adult educator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Engineering, data and continuous-improvement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Cross-industry experimentation and workforce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Role, organisation and process or research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DoE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ANOVA, factorials, Minitab, Excel or no prior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experiment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response you want to improve or stabilise.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decision you want stronger evidence to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 — attend both days to get the most from the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 your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critique ideas, not people.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safely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feasible factor ranges and supplied mock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Preserve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standard order, run order and source responses.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 by doing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Learner Guide for detailed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9:30–10:55 · DoE foundations and project framing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10:55–12:45 · Hypothesis testing and one-way ANOVA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1:15–3:05 · 2² and 2³ factorial designs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3:05–5:30 · Effects, interactions, regression and blocks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9:30–11:25 · Fractional factorial and aliases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11:25–2:25 · Screening and sequential design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2:25–4:15 · RSM, CCD, mixtures and Taguchi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4:15–5:30 · Evaluation, recap and course 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NovaDOE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Git to clone the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numbered DOE lab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Start with README and workbook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GitHub &gt; Code &gt;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Extract the full activities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 each lab self-contained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NovaDOE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Generate the design in the browser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Export CSV into the lab 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LG for detailed procedures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15000"/>
            <a:ext cx="99669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https://github.com/tertiarycourses/C950-Design-of-Experiment-DOE-Masterclass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LMS/TMS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your learner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Select this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Courseware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Download learner slides and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Save beside your lab folders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  Check the course code</a:t>
            </a:r>
            <a:r>
              <a:rPr sz="1300" b="0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Ask the trainer if a file differs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15000"/>
            <a:ext cx="99669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Fundamentals of Design of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Questions, variables, variation, hypothesis tests and one-way ANOVA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Fundamentals of Design of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Engineering experiments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Learn efficiently from controlled variation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DoE lifecycle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Plan before collecting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Factor, level, treatment, response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 the experimental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Independent and dependent variables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inputs from outcomes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OFAT versus DoE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Interactions require coordinated changes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Randomisation, replication and blocking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 inference from bias and noise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Engineering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Reduce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development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quantify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uncertainty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robust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Engineering experiments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Learn efficiently from controlled variation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useful experiment changes a decision, not merely a chart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choose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factors and levels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DoE lifecycle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 before collecting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Pre-register the response and decision rule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Factor, level, treatment,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Factor — is controlled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level — is setting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treatment — is combination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response — is measured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Factor, level, treatment, response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Independent and dependent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Independent variables are manipulated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dependent variables respond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nuisance variables are controlled or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Independent and dependent variables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Separate inputs from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call an observed association an 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OFAT versus DoE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OFAT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 intuitive but inefficient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factorial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DoE estimates several effects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visible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covers the 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OFAT versus DoE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Interactions require coordinated changes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OFAT only for safe preliminary range-finding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Randomisation, replication and blocking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Randomise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run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replicate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treatments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known nuisance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Randomisation, replication and blocking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 inference from bias and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Repeats measure equipment precision; replicates estimate process variation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Measurement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—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—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 — calibration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— consistent units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— missingness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Measurement systems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Hypothesis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null and alternative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statistic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calculate p-value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with alpha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Hypothesis testing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evidence into a 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p-value is conditional on the null and 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 I and Type II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 rejects a true null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II misses a real effect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depends on effect, noise and sample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 I and Type II errors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Balance false alarms and missed effects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risk thresholds from consequence, not habit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Two-sample comparisons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Independent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groups differ from paired measurements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variance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effect and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Two-sample comparisons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the test to the sampling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Statistical significance does not guarantee practical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One-way ANOVA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Partition — total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estimate — between and within variation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compute — F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— equal means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One-way ANOVA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Sum-of-squares decomposition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SST equals model plus error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degrees of freedom scale mean squares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 compares signal to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LENS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Sum-of-squares decomposition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Account for where variation comes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Balanced designs make decomposition easier to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Characterise a Composite Cure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materials team must reduce cure-cycle variation before testing a new composite panel.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signed experiment charter, factor table, 2² design CSV and run-order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full factorial planning workspace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Characterise a Composite Cure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factor table, four treatment combinations, response definition, random run order and go/no-go rule are all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Compare Coating Cure Temperatures with One-Way ANOVA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coating line compares four cure temperatures using adhesion strength from replicated coupons.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randomised 4-level design, replicated response dataset, ANOVA table and engineering interpretation.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full factorial (one 4-level categorical factor) + Excel ANOVA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Compare Coating Cure Temperatures with One-Way ANOVA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ANOVA uses 20 observations, reports the correct factor levels and gives a conclusion that separates statistical from practical significance.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Fundamentals of Design of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Engineering experiments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Frame a measurable DoE project and distinguish factors, levels, responses and nuisance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NovaDOE export, validated workbook and engineering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evidence to narrow, augment or confirm the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Factorial Design of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Main effects, interactions, regression, ANOVA, blocks and confounding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Factorial Design of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Factorial design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Test combinations rather than isolated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The 2^2 design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Two factors at low and high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Main effects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Average response change across another factor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effect of one factor depends on another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Coded regression model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Connect design geometry to prediction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ANOVA for factorial designs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Test model terms against residual noise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Factorial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combinations estimate main effects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estimates become possible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dataset supports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Factorial design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combinations rather than isolated changes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 experimental region safe and relevant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2^2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treatment combinations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levels -1 and +1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geometric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square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2^2 design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Two factors at low and high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replicates or centre points when pure error or curvature matters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— high versus low 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— gives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magnitude — gives practical influence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uncertainty — qualifies the estimate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 effects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Non-parallel interaction lines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product term in 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hierarchy principle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joint settings drive the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Interactions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The effect of one factor depends on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Never interpret main effects alone when interaction is material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Coded regression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Intercept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 grand mean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coefficients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represent half-effects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term models interaction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residuals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adequacy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Coded regression model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Connect design geometry to prediction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Decode recommendations back to engineering units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ANOVA for factorial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Degrees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of freedom follow effects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square divides SS by 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and p assess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ANOVA for factorial designs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model terms against residual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effect size and confidence intervals alongside p-values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2^3 cube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Eight — corners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three — main effects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three — two-way interactions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— three-way interaction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2^3 cube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General 2^k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2^k treatment combinations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orthogonal effect estimates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 hierarchy guides model reduction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cost grows exponentially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General 2^k designs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Run count doubles with every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fractional designs when screening many factors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Pareto and normal effect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Standardised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effects show magnitude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line guides screening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plot separates signal from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Pareto and normal effect plots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candidate effects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Plots support, but do not replace, model assumptions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Centre points and curvature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runs estimate local curvature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replicated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centres provide pure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significant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curvature motivates RSM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Centre points and curvature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whether a straight plane is adequate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centre point does not identify which quadratic term matters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Replication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336804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336804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1378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378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311200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Independent — replicates capture process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528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2176272"/>
            <a:ext cx="336804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2176272"/>
            <a:ext cx="336804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7616" y="3566160"/>
            <a:ext cx="311200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— measurements capture measurement variation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764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1960" y="2176272"/>
            <a:ext cx="336804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1960" y="2176272"/>
            <a:ext cx="336804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9850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850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9976" y="3566160"/>
            <a:ext cx="311200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power — increases with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Replication strategy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Blocking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 homogeneous runs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randomise within blocks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estimate block effect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preserve treatment 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Blocking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Remove known nuisance variation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block should not be confused with a factor of scientific interest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Confounding in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defining contrast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aliases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follow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high-order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terms are typical sacrifices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alias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 LENS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Confounding in blocks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Trade an interaction for practical run groups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Never confound an effect that stakeholders consider critical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Reduce Order-Processing Time with a 2² Factorial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distribution centre tests Current/New ordering systems and Packing A/B to minimise processing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12-run replicated design, effect table, interaction interpretation and recommended setting.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full factorial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Reduce Order-Processing Time with a 2² Factorial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All four combinations have three independent replicates and the recommendation cites both the predicted response and interaction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 2³ Composite Bonding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bonding team studies temperature, pressure and surface preparation to maximise joint strength.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eight-corner cube design, effect hierarchy, coded regression and predicted optimum.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full factorial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a 2³ Composite Bonding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workbook contains all seven effect estimates, a hierarchical model, residual check and a recommendation in engineering units.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Block a Replicated Seal-Strength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Seal trials span morning and afternoon shifts whose ambient conditions differ.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balanced blocks, randomisation within block, block-adjusted effects and deviation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full factorial + blocked run sheet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Block a Replicated Seal-Strength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Each block contains all four treatments, run order is randomised within block and the block-adjusted conclusion is documented.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Factorial Design of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Factorial design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 two main effects and their interaction from a replicated 2² experiment.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NovaDOE export, validated workbook and engineering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evidence to narrow, augment or confirm the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Return at 9:30 AM for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Fractional Factorial and Screening Designs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Generators, aliases, resolution, Plackett-Burman and sequential experimentation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Fractional Factorial and Screening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Why fractionate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Screen many factors with fewer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One-half fractions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 generator to select half the full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Alias structure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which effects are inseparable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Resolution III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Main effects alias with two-factor interactions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Resolution IV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Main effects clear of two-factor interactions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Resolution V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Main effects and two-factor interactions are separately estimable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fractionate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Assume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effect sparsity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defensible fraction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preserve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critical estimates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reserve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budget for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fractionate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Screen many factors with fewer runs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fraction is a strategic information trade, not free efficiency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One-half fractions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defines included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defining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relation creates aliases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determine fraction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One-half fractions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generator to select half the full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the generator so the design is reproducible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Alias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Multiply — effects by defining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aliases — share estimates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resolution — summarises shortest 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subject — knowledge breaks ambiguity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Alias structure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Resolution III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Useful for early screening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smallest run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strong interaction risk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confirmation 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Resolution III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Main effects alias with two-factor interactions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Accept only when interactions are plausibly negligible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Resolution IV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effects alias with three-factor interactions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two-factor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interactions alias in pairs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common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screening compromise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Resolution IV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Main effects clear of two-factor interactions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Escalate ambiguous interaction pairs in a follow-up design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Resolution 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effects alias with four-factor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two-factor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interactions alias with three-factor terms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Resolution V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 effects and two-factor interactions are separately estimable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when interactions matter to the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One-quarter fractions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Two — defining words plus their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alias — chains lengthen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resolution — depends on generator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efficiency — increases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One-quarter fractions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Foldover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Reverse selected factor signs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combine original and foldover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main effects from interactions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sequential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Foldover designs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Break targeted aliases in a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Plan foldover before consuming the entire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Plackett-Burman screening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runs screen up to N-1 factors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orthogonal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main-effect columns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interactions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not independently estimable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 factor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Plackett-Burman screening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Estimate many main effects economically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results to design a factorial confirmation, not to optimise directly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Screening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magnitude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signal-to-noise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per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Screening metrics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projects and factors using business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statistically active factor may still be operationally irrelevant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Sequential experimentation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Screen —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—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map — curvature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optimise —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— at the recommended settings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Sequential experimentation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7C3AED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review and run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owners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factor table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randomised run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review and run sheet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Make the experiment executable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Freeze the run sheet before execution and log deviations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Screen Five Factors with a Resolution V Half Fraction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polymer extrusion team has five controllable factors but only 16 safe pilot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16-run fraction, generator and alias record, screened effects and confirmation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fractional factorial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Screen Five Factors with a Resolution V Half Fraction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design has 16 unique runs, five factor columns, a stated resolution/alias assumption and a confirmation plan that does not overclaim aliased effects.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Screen Eleven Battery-Process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battery lab must screen eleven formulation and process factors in twelve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12-run PB matrix, main-effect ranking, risk register and factorial follow-up proposal.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Plackett-Burman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7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Screen Eleven Battery-Process Factors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All eleven main effects are ranked and the report explicitly states that interactions are not separately estimable in the screening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Fractional Factorial and Screening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Why fractionate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Generate a defensible 2^(5-1) design, interpret aliases and plan confirmation.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NovaDOE export, validated workbook and engineering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evidence to narrow, augment or confirm the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Screening, Modelling and Optimising DoE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Response surfaces, CCD, Box-Behnken, mixtures and Taguchi robustness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Screening, Modelling and Optimising DoE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 Surface Methodology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Model curvature after important factors are known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Quadratic models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Curvature needs squared terms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Central Composite Design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Augment factorial points with stars and centres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CCD variants and alpha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geometry for feasibility and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Box-Behnken design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Estimate quadratic models without all-factor extremes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Contour and surface plots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Translate equations into operating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Surface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first- and second-order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local 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stationary behaviour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optimise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with 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Response Surface Methodology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curvature after important factors are known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RSM is local—avoid extrapolation beyond the design space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Quadratic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terms give slope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terms twist the surface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squared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terms create curvature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Quadratic models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Curvature needs squared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Respect hierarchy when retaining higher-order terms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Central Composite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Factorial — corners estimate 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axial — points estimate curvature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centre — points estimate pure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alpha — controls geometry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Central Composite Design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CCD variants and alpha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Circumscribed extends beyond factorial range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inscribed keeps axial points within bounds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face-centred uses alpha 1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rotatability stabilises 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CCD variants and alpha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Choose geometry for feasibility and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Safety limits may rule out circumscribed designs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Box-Behnken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Mid-edge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treatment combinations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centre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points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least three factors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fewer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dangerous corner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Box-Behnken design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Estimate quadratic models without all-factor extremes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run count and feasible region with CCD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Contour and surface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Contours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show equal-response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surfaces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show curvature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multiple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Contour and surface plots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Translate equations into operating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persuasive plot still needs uncertainty and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Optimisation and confirmation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— target and bounds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optimise — desirability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—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— confirmation trials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— predicted and observed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Optimisation and confirmation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Mixture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Changing one component forces others to change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simplex geometry replaces a cube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blends drive the response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process variables can be added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Mixture designs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Component proportions sum to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Ordinary factorial independence does not apply to proportions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Simplex centroid and extreme vertices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Vertices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pure blends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edges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binary blends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centroid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 balanced blend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reshape the feasible 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Simplex centroid and extreme vertices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Cover constrained formulation space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 lower and upper component bounds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Taguchi robust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Separate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control and noise factors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orthogonal arrays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calculate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signal-to-noise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Taguchi robust design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sensitivity to uncontrollable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observation that would change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Guardrail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Robustness is performance across noise, not merely a high mean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recommendation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Signal-to-noise ratios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Smaller-the-better —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larger-the-better —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nominal-the-best —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logarithmic — ratio combines mean and variation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Signal-to-noise ratios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the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Translate to engineering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independently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slow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Evaluate and recommend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objective to achieved effect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uncertainty and residuals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 limitations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slow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Evaluate and recommend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Close the experimental learning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the evidence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3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Recommendation strength must match evidence strength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model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6" y="1828800"/>
            <a:ext cx="3401568" cy="3703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Translate to operating units.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Confirm in an independent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slow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Follow-up action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— promising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fold — over aliases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augment — for curvature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widen — or narrow ranges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improve — measurement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slow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 LENS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Follow-up action portfolio — Decision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INTERPRET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the next experiment intentionally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 question: What observation would change the current decision?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risk: Check assumptions before interpreting the effect.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APPLY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Capture decision, owner, due date and acceptance test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Engineering use: Translate coded results back to operating units.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action: Confirm the recommendation in an independent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slow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 Robust Golf-Ball Process with Taguchi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golf-equipment team tests four two-level control factors under Driver and 5-Iron noise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orthogonal eight-run control matrix, two noise responses, S/N analysis and robustness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full/fractional matrix used as an orthogonal-array proxy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slow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 Robust Golf-Ball Process with Taguchi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recommended settings are justified by S/N ratio and mean response, with a confirmation plan across both club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slow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Optimise Sterile-Package Seal Strength with CCD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medical-packaging engineer targets seal strength of 26 N within an acceptable 20–32 N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CCD export, quadratic model table, contour evidence, optimum and confirmation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Central Composite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slow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9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Optimise Sterile-Package Seal Strength with CCD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design includes factorial, axial and centre points; the recommendation targets 26 N and includes confirmation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slow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Optimise a Three-Component Thermal Paste Mixture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thermal-materials lab blends ceramic filler, binder and additive; proportions must total 100%.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constrained candidate set, simplex plot table, blend model evidence and validation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NovaDOE · NovaDOE Latin Hypercube for candidate exploration + simplex filtering · Excel/CSV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slow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10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Optimise a Three-Component Thermal Paste Mixture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Every retained blend sums to 1.000 within tolerance, satisfies bounds and leads to a constrained follow-up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slow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Screening, Modelling and Optimising DoE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Surface Methodology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control and noise factors and recommend robust rather than merely high-mean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NovaDOE export, validated workbook and engineering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evidence to narrow, augment or confirm the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slow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Evidence, Feedback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slow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Share your feedback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course feedback form before you leave.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worked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us which labs and concepts helped you most.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to 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Suggest where you needed more time or examples.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Certificate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certificate of completion is emailed after the course.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slow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74519"/>
            <a:ext cx="102412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77440"/>
            <a:ext cx="10241280" cy="1600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Design fewer experiments. Learn more from every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6696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Control variation, expose interactions and confirm recommendations before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Design of Experiment (DOE) Masterclass · C950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Experiment (DOE) Masterclass (C950)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